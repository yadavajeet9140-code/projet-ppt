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IN" sz="1400" b="0" dirty="0"/>
              <a:t>pH Value</a:t>
            </a:r>
          </a:p>
        </c:rich>
      </c:tx>
      <c:layout>
        <c:manualLayout>
          <c:xMode val="edge"/>
          <c:yMode val="edge"/>
          <c:x val="0.47611676144648585"/>
          <c:y val="2.7777777777777776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7.65</c:v>
                </c:pt>
                <c:pt idx="1">
                  <c:v>7.52</c:v>
                </c:pt>
                <c:pt idx="2">
                  <c:v>7.39</c:v>
                </c:pt>
                <c:pt idx="3">
                  <c:v>7.77</c:v>
                </c:pt>
              </c:numCache>
            </c:numRef>
          </c:val>
          <c:extLst>
            <c:ext xmlns:c16="http://schemas.microsoft.com/office/drawing/2014/chart" uri="{C3380CC4-5D6E-409C-BE32-E72D297353CC}">
              <c16:uniqueId val="{00000000-6D57-4BA4-A49B-ED4077C856C3}"/>
            </c:ext>
          </c:extLst>
        </c:ser>
        <c:ser>
          <c:idx val="1"/>
          <c:order val="1"/>
          <c:tx>
            <c:strRef>
              <c:f>Sheet1!$C$1</c:f>
              <c:strCache>
                <c:ptCount val="1"/>
                <c:pt idx="0">
                  <c:v>September</c:v>
                </c:pt>
              </c:strCache>
            </c:strRef>
          </c:tx>
          <c:spPr>
            <a:solidFill>
              <a:schemeClr val="accent2"/>
            </a:solidFill>
            <a:ln>
              <a:noFill/>
            </a:ln>
            <a:effectLst/>
          </c:spPr>
          <c:invertIfNegative val="0"/>
          <c:dLbls>
            <c:dLbl>
              <c:idx val="3"/>
              <c:tx>
                <c:rich>
                  <a:bodyPr/>
                  <a:lstStyle/>
                  <a:p>
                    <a:r>
                      <a:rPr lang="en-US"/>
                      <a:t>7.89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D57-4BA4-A49B-ED4077C856C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7.67</c:v>
                </c:pt>
                <c:pt idx="1">
                  <c:v>7.91</c:v>
                </c:pt>
                <c:pt idx="2">
                  <c:v>7.86</c:v>
                </c:pt>
                <c:pt idx="3">
                  <c:v>7.91</c:v>
                </c:pt>
              </c:numCache>
            </c:numRef>
          </c:val>
          <c:extLst>
            <c:ext xmlns:c16="http://schemas.microsoft.com/office/drawing/2014/chart" uri="{C3380CC4-5D6E-409C-BE32-E72D297353CC}">
              <c16:uniqueId val="{00000002-6D57-4BA4-A49B-ED4077C856C3}"/>
            </c:ext>
          </c:extLst>
        </c:ser>
        <c:dLbls>
          <c:dLblPos val="outEnd"/>
          <c:showLegendKey val="0"/>
          <c:showVal val="1"/>
          <c:showCatName val="0"/>
          <c:showSerName val="0"/>
          <c:showPercent val="0"/>
          <c:showBubbleSize val="0"/>
        </c:dLbls>
        <c:gapWidth val="219"/>
        <c:overlap val="-27"/>
        <c:axId val="966334992"/>
        <c:axId val="966327792"/>
      </c:barChart>
      <c:catAx>
        <c:axId val="966334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327792"/>
        <c:crosses val="autoZero"/>
        <c:auto val="1"/>
        <c:lblAlgn val="ctr"/>
        <c:lblOffset val="100"/>
        <c:noMultiLvlLbl val="0"/>
      </c:catAx>
      <c:valAx>
        <c:axId val="96632779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334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Hardness(ppm)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225</c:v>
                </c:pt>
                <c:pt idx="1">
                  <c:v>200</c:v>
                </c:pt>
                <c:pt idx="2">
                  <c:v>450</c:v>
                </c:pt>
                <c:pt idx="3">
                  <c:v>250</c:v>
                </c:pt>
              </c:numCache>
            </c:numRef>
          </c:val>
          <c:extLst>
            <c:ext xmlns:c16="http://schemas.microsoft.com/office/drawing/2014/chart" uri="{C3380CC4-5D6E-409C-BE32-E72D297353CC}">
              <c16:uniqueId val="{00000000-8B5C-4186-941A-14D206DE7946}"/>
            </c:ext>
          </c:extLst>
        </c:ser>
        <c:ser>
          <c:idx val="1"/>
          <c:order val="1"/>
          <c:tx>
            <c:strRef>
              <c:f>Sheet1!$C$1</c:f>
              <c:strCache>
                <c:ptCount val="1"/>
                <c:pt idx="0">
                  <c:v>September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280.25</c:v>
                </c:pt>
                <c:pt idx="1">
                  <c:v>260.23</c:v>
                </c:pt>
                <c:pt idx="2">
                  <c:v>300.27</c:v>
                </c:pt>
                <c:pt idx="3">
                  <c:v>240.21</c:v>
                </c:pt>
              </c:numCache>
            </c:numRef>
          </c:val>
          <c:extLst>
            <c:ext xmlns:c16="http://schemas.microsoft.com/office/drawing/2014/chart" uri="{C3380CC4-5D6E-409C-BE32-E72D297353CC}">
              <c16:uniqueId val="{00000001-8B5C-4186-941A-14D206DE7946}"/>
            </c:ext>
          </c:extLst>
        </c:ser>
        <c:dLbls>
          <c:dLblPos val="outEnd"/>
          <c:showLegendKey val="0"/>
          <c:showVal val="1"/>
          <c:showCatName val="0"/>
          <c:showSerName val="0"/>
          <c:showPercent val="0"/>
          <c:showBubbleSize val="0"/>
        </c:dLbls>
        <c:gapWidth val="219"/>
        <c:overlap val="-27"/>
        <c:axId val="1275065904"/>
        <c:axId val="1275066384"/>
      </c:barChart>
      <c:catAx>
        <c:axId val="1275065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5066384"/>
        <c:crosses val="autoZero"/>
        <c:auto val="1"/>
        <c:lblAlgn val="ctr"/>
        <c:lblOffset val="100"/>
        <c:noMultiLvlLbl val="0"/>
      </c:catAx>
      <c:valAx>
        <c:axId val="1275066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5065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Total Dissolved Solids Value</a:t>
            </a:r>
          </a:p>
        </c:rich>
      </c:tx>
      <c:layout>
        <c:manualLayout>
          <c:xMode val="edge"/>
          <c:yMode val="edge"/>
          <c:x val="0.3133448162729659"/>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121</c:v>
                </c:pt>
                <c:pt idx="1">
                  <c:v>140</c:v>
                </c:pt>
                <c:pt idx="2">
                  <c:v>167</c:v>
                </c:pt>
                <c:pt idx="3">
                  <c:v>140</c:v>
                </c:pt>
              </c:numCache>
            </c:numRef>
          </c:val>
          <c:extLst>
            <c:ext xmlns:c16="http://schemas.microsoft.com/office/drawing/2014/chart" uri="{C3380CC4-5D6E-409C-BE32-E72D297353CC}">
              <c16:uniqueId val="{00000000-F625-4C3A-AE10-E1B4AB245210}"/>
            </c:ext>
          </c:extLst>
        </c:ser>
        <c:ser>
          <c:idx val="1"/>
          <c:order val="1"/>
          <c:tx>
            <c:strRef>
              <c:f>Sheet1!$C$1</c:f>
              <c:strCache>
                <c:ptCount val="1"/>
                <c:pt idx="0">
                  <c:v>September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151</c:v>
                </c:pt>
                <c:pt idx="1">
                  <c:v>147</c:v>
                </c:pt>
                <c:pt idx="2">
                  <c:v>150</c:v>
                </c:pt>
                <c:pt idx="3">
                  <c:v>150</c:v>
                </c:pt>
              </c:numCache>
            </c:numRef>
          </c:val>
          <c:extLst>
            <c:ext xmlns:c16="http://schemas.microsoft.com/office/drawing/2014/chart" uri="{C3380CC4-5D6E-409C-BE32-E72D297353CC}">
              <c16:uniqueId val="{00000001-F625-4C3A-AE10-E1B4AB245210}"/>
            </c:ext>
          </c:extLst>
        </c:ser>
        <c:dLbls>
          <c:dLblPos val="outEnd"/>
          <c:showLegendKey val="0"/>
          <c:showVal val="1"/>
          <c:showCatName val="0"/>
          <c:showSerName val="0"/>
          <c:showPercent val="0"/>
          <c:showBubbleSize val="0"/>
        </c:dLbls>
        <c:gapWidth val="219"/>
        <c:overlap val="-27"/>
        <c:axId val="966447728"/>
        <c:axId val="966448208"/>
      </c:barChart>
      <c:catAx>
        <c:axId val="966447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48208"/>
        <c:crosses val="autoZero"/>
        <c:auto val="1"/>
        <c:lblAlgn val="ctr"/>
        <c:lblOffset val="100"/>
        <c:noMultiLvlLbl val="0"/>
      </c:catAx>
      <c:valAx>
        <c:axId val="966448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477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Turbidity (NTU)</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August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Sheet1!$B$2:$B$5</c:f>
              <c:numCache>
                <c:formatCode>General</c:formatCode>
                <c:ptCount val="4"/>
                <c:pt idx="0">
                  <c:v>51.45</c:v>
                </c:pt>
                <c:pt idx="1">
                  <c:v>35.6</c:v>
                </c:pt>
                <c:pt idx="2">
                  <c:v>50.8</c:v>
                </c:pt>
                <c:pt idx="3">
                  <c:v>42.2</c:v>
                </c:pt>
              </c:numCache>
            </c:numRef>
          </c:val>
          <c:extLst>
            <c:ext xmlns:c16="http://schemas.microsoft.com/office/drawing/2014/chart" uri="{C3380CC4-5D6E-409C-BE32-E72D297353CC}">
              <c16:uniqueId val="{00000000-37B3-423E-9AB3-7EEBBFAA7F03}"/>
            </c:ext>
          </c:extLst>
        </c:ser>
        <c:ser>
          <c:idx val="1"/>
          <c:order val="1"/>
          <c:tx>
            <c:strRef>
              <c:f>Sheet1!$C$1</c:f>
              <c:strCache>
                <c:ptCount val="1"/>
                <c:pt idx="0">
                  <c:v>September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Rajghat</c:v>
                </c:pt>
                <c:pt idx="1">
                  <c:v>Barhuan</c:v>
                </c:pt>
                <c:pt idx="2">
                  <c:v>Mokshdham</c:v>
                </c:pt>
                <c:pt idx="3">
                  <c:v>Muhamadpur Maphi</c:v>
                </c:pt>
              </c:strCache>
            </c:strRef>
          </c:cat>
          <c:val>
            <c:numRef>
              <c:f>Sheet1!$C$2:$C$5</c:f>
              <c:numCache>
                <c:formatCode>General</c:formatCode>
                <c:ptCount val="4"/>
                <c:pt idx="0">
                  <c:v>53.23</c:v>
                </c:pt>
                <c:pt idx="1">
                  <c:v>33.68</c:v>
                </c:pt>
                <c:pt idx="2">
                  <c:v>47.8</c:v>
                </c:pt>
                <c:pt idx="3">
                  <c:v>45.69</c:v>
                </c:pt>
              </c:numCache>
            </c:numRef>
          </c:val>
          <c:extLst>
            <c:ext xmlns:c16="http://schemas.microsoft.com/office/drawing/2014/chart" uri="{C3380CC4-5D6E-409C-BE32-E72D297353CC}">
              <c16:uniqueId val="{00000001-37B3-423E-9AB3-7EEBBFAA7F03}"/>
            </c:ext>
          </c:extLst>
        </c:ser>
        <c:dLbls>
          <c:dLblPos val="outEnd"/>
          <c:showLegendKey val="0"/>
          <c:showVal val="1"/>
          <c:showCatName val="0"/>
          <c:showSerName val="0"/>
          <c:showPercent val="0"/>
          <c:showBubbleSize val="0"/>
        </c:dLbls>
        <c:gapWidth val="219"/>
        <c:overlap val="-27"/>
        <c:axId val="636923103"/>
        <c:axId val="636924543"/>
      </c:barChart>
      <c:catAx>
        <c:axId val="636923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6924543"/>
        <c:crosses val="autoZero"/>
        <c:auto val="1"/>
        <c:lblAlgn val="ctr"/>
        <c:lblOffset val="100"/>
        <c:noMultiLvlLbl val="0"/>
      </c:catAx>
      <c:valAx>
        <c:axId val="636924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69231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0.5875</cdr:x>
      <cdr:y>0.09762</cdr:y>
    </cdr:from>
    <cdr:to>
      <cdr:x>0.75417</cdr:x>
      <cdr:y>0.38333</cdr:y>
    </cdr:to>
    <cdr:sp macro="" textlink="">
      <cdr:nvSpPr>
        <cdr:cNvPr id="2" name="Text Box 1"/>
        <cdr:cNvSpPr txBox="1"/>
      </cdr:nvSpPr>
      <cdr:spPr>
        <a:xfrm xmlns:a="http://schemas.openxmlformats.org/drawingml/2006/main">
          <a:off x="3223260" y="31242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IN" sz="1100"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E0DD7B-3341-4CAB-AE1D-CE18F97B84E7}" type="slidenum">
              <a:rPr lang="en-US" smtClean="0"/>
              <a:t>4</a:t>
            </a:fld>
            <a:endParaRPr lang="en-US"/>
          </a:p>
        </p:txBody>
      </p:sp>
    </p:spTree>
    <p:extLst>
      <p:ext uri="{BB962C8B-B14F-4D97-AF65-F5344CB8AC3E}">
        <p14:creationId xmlns:p14="http://schemas.microsoft.com/office/powerpoint/2010/main" val="3918215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4/14/2026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4142502"/>
            <a:ext cx="8763000" cy="514350"/>
          </a:xfrm>
        </p:spPr>
        <p:txBody>
          <a:bodyPr>
            <a:normAutofit fontScale="25000" lnSpcReduction="20000"/>
          </a:bodyPr>
          <a:lstStyle/>
          <a:p>
            <a:pPr algn="ctr"/>
            <a:r>
              <a:rPr lang="en-IN" altLang="en-US" sz="9600" b="1" dirty="0">
                <a:solidFill>
                  <a:schemeClr val="tx1"/>
                </a:solidFill>
                <a:latin typeface="Times New Roman" panose="02020603050405020304" pitchFamily="18" charset="0"/>
                <a:cs typeface="Times New Roman" panose="02020603050405020304" pitchFamily="18" charset="0"/>
              </a:rPr>
              <a:t>       “ </a:t>
            </a:r>
            <a:r>
              <a:rPr lang="en-US" altLang="en-US" sz="9600" b="1" dirty="0">
                <a:solidFill>
                  <a:schemeClr val="tx1"/>
                </a:solidFill>
                <a:latin typeface="Times New Roman" panose="02020603050405020304" pitchFamily="18" charset="0"/>
                <a:cs typeface="Times New Roman" panose="02020603050405020304" pitchFamily="18" charset="0"/>
              </a:rPr>
              <a:t>Comprehensive Analysis of Water Quality of Rapti River in Gorakhpur Region”</a:t>
            </a:r>
            <a:endParaRPr lang="en-US" sz="9600" dirty="0">
              <a:solidFill>
                <a:schemeClr val="tx1"/>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228600" y="533400"/>
            <a:ext cx="1610544" cy="1451759"/>
          </a:xfrm>
          <a:prstGeom prst="rect">
            <a:avLst/>
          </a:prstGeom>
        </p:spPr>
      </p:pic>
      <p:sp>
        <p:nvSpPr>
          <p:cNvPr id="8" name="Title 1">
            <a:extLst>
              <a:ext uri="{FF2B5EF4-FFF2-40B4-BE49-F238E27FC236}">
                <a16:creationId xmlns:a16="http://schemas.microsoft.com/office/drawing/2014/main" id="{19626E4F-BF1C-7BAA-113E-D00B0ADB21D5}"/>
              </a:ext>
            </a:extLst>
          </p:cNvPr>
          <p:cNvSpPr>
            <a:spLocks noGrp="1"/>
          </p:cNvSpPr>
          <p:nvPr>
            <p:ph type="ctrTitle"/>
          </p:nvPr>
        </p:nvSpPr>
        <p:spPr>
          <a:xfrm>
            <a:off x="1600200" y="353708"/>
            <a:ext cx="7086600" cy="3262901"/>
          </a:xfrm>
        </p:spPr>
        <p:txBody>
          <a:bodyPr>
            <a:normAutofit fontScale="90000"/>
          </a:bodyPr>
          <a:lstStyle/>
          <a:p>
            <a:pPr algn="ctr"/>
            <a:r>
              <a:rPr lang="en-US" sz="2400" b="1" dirty="0">
                <a:latin typeface="Times New Roman" pitchFamily="18" charset="0"/>
                <a:cs typeface="Times New Roman" pitchFamily="18" charset="0"/>
              </a:rPr>
              <a:t>1</a:t>
            </a:r>
            <a:r>
              <a:rPr lang="en-US" sz="2400" b="1" baseline="30000" dirty="0">
                <a:latin typeface="Times New Roman" pitchFamily="18" charset="0"/>
                <a:cs typeface="Times New Roman" pitchFamily="18" charset="0"/>
              </a:rPr>
              <a:t>st</a:t>
            </a:r>
            <a:r>
              <a:rPr lang="en-US" sz="2400" b="1" dirty="0">
                <a:latin typeface="Times New Roman" pitchFamily="18" charset="0"/>
                <a:cs typeface="Times New Roman" pitchFamily="18" charset="0"/>
              </a:rPr>
              <a:t> National Conference on Sustainable Civil Engineering &amp; Geospatial Technologies: Materials &amp; Innovations for Climate Resilience</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(NCRT-SCE 2026)</a:t>
            </a:r>
            <a:br>
              <a:rPr lang="en-US" sz="2800" b="1" dirty="0">
                <a:latin typeface="Times New Roman" pitchFamily="18" charset="0"/>
                <a:cs typeface="Times New Roman" pitchFamily="18" charset="0"/>
              </a:rPr>
            </a:br>
            <a:br>
              <a:rPr lang="en-US" sz="28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Buddha Institute of  Technology </a:t>
            </a:r>
            <a:br>
              <a:rPr lang="en-US" sz="2400" b="1" dirty="0">
                <a:solidFill>
                  <a:srgbClr val="0070C0"/>
                </a:solidFill>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GIDA, Gorakhpur </a:t>
            </a:r>
            <a:br>
              <a:rPr lang="en-US" sz="2400" b="1" dirty="0">
                <a:solidFill>
                  <a:srgbClr val="0070C0"/>
                </a:solidFill>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Date of Conference: 15</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 16</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April 2026</a:t>
            </a:r>
            <a:endParaRPr lang="en-US" sz="3600" dirty="0">
              <a:latin typeface="Times New Roman" pitchFamily="18" charset="0"/>
              <a:cs typeface="Times New Roman" pitchFamily="18" charset="0"/>
            </a:endParaRPr>
          </a:p>
        </p:txBody>
      </p:sp>
      <p:sp>
        <p:nvSpPr>
          <p:cNvPr id="9" name="Text Placeholder 3">
            <a:extLst>
              <a:ext uri="{FF2B5EF4-FFF2-40B4-BE49-F238E27FC236}">
                <a16:creationId xmlns:a16="http://schemas.microsoft.com/office/drawing/2014/main" id="{EA4EC369-7027-AE28-E806-373B3099DE87}"/>
              </a:ext>
            </a:extLst>
          </p:cNvPr>
          <p:cNvSpPr txBox="1">
            <a:spLocks/>
          </p:cNvSpPr>
          <p:nvPr/>
        </p:nvSpPr>
        <p:spPr>
          <a:xfrm>
            <a:off x="380999" y="5162999"/>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itchFamily="18" charset="0"/>
                <a:cs typeface="Times New Roman" pitchFamily="18" charset="0"/>
              </a:rPr>
              <a:t>Under the Guidance</a:t>
            </a:r>
          </a:p>
          <a:p>
            <a:pPr algn="ctr"/>
            <a:r>
              <a:rPr lang="en-US" dirty="0">
                <a:latin typeface="Times New Roman" pitchFamily="18" charset="0"/>
                <a:cs typeface="Times New Roman" pitchFamily="18" charset="0"/>
              </a:rPr>
              <a:t>Mr. Rajan Shukla</a:t>
            </a:r>
          </a:p>
          <a:p>
            <a:pPr algn="ctr"/>
            <a:r>
              <a:rPr lang="en-US" dirty="0">
                <a:latin typeface="Times New Roman" pitchFamily="18" charset="0"/>
                <a:cs typeface="Times New Roman" pitchFamily="18" charset="0"/>
              </a:rPr>
              <a:t>Assistant Professor</a:t>
            </a:r>
          </a:p>
        </p:txBody>
      </p:sp>
      <p:sp>
        <p:nvSpPr>
          <p:cNvPr id="10" name="Text Placeholder 3">
            <a:extLst>
              <a:ext uri="{FF2B5EF4-FFF2-40B4-BE49-F238E27FC236}">
                <a16:creationId xmlns:a16="http://schemas.microsoft.com/office/drawing/2014/main" id="{FF8E7ED0-0F2A-806E-44CB-FDE65B9C6CBE}"/>
              </a:ext>
            </a:extLst>
          </p:cNvPr>
          <p:cNvSpPr txBox="1">
            <a:spLocks/>
          </p:cNvSpPr>
          <p:nvPr/>
        </p:nvSpPr>
        <p:spPr>
          <a:xfrm>
            <a:off x="6248400" y="5068930"/>
            <a:ext cx="3159303" cy="1482075"/>
          </a:xfrm>
          <a:prstGeom prst="rect">
            <a:avLst/>
          </a:prstGeom>
        </p:spPr>
        <p:txBody>
          <a:bodyPr>
            <a:no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ctr">
              <a:buNone/>
            </a:pPr>
            <a:r>
              <a:rPr lang="en-US" sz="1800" b="1" dirty="0">
                <a:solidFill>
                  <a:schemeClr val="tx1">
                    <a:lumMod val="65000"/>
                    <a:lumOff val="35000"/>
                  </a:schemeClr>
                </a:solidFill>
                <a:latin typeface="Times New Roman" pitchFamily="18" charset="0"/>
                <a:cs typeface="Times New Roman" pitchFamily="18" charset="0"/>
              </a:rPr>
              <a:t>Presented By: </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Ajeet Yadav</a:t>
            </a:r>
          </a:p>
          <a:p>
            <a:pPr marL="82296" indent="0" algn="ctr">
              <a:buNone/>
            </a:pPr>
            <a:r>
              <a:rPr lang="en-US" sz="1800">
                <a:solidFill>
                  <a:schemeClr val="tx1">
                    <a:lumMod val="65000"/>
                    <a:lumOff val="35000"/>
                  </a:schemeClr>
                </a:solidFill>
                <a:latin typeface="Times New Roman" pitchFamily="18" charset="0"/>
                <a:cs typeface="Times New Roman" pitchFamily="18" charset="0"/>
              </a:rPr>
              <a:t>2305250009004</a:t>
            </a:r>
            <a:endParaRPr lang="en-US" sz="1800" dirty="0">
              <a:solidFill>
                <a:schemeClr val="tx1">
                  <a:lumMod val="65000"/>
                  <a:lumOff val="35000"/>
                </a:schemeClr>
              </a:solidFill>
              <a:latin typeface="Times New Roman" pitchFamily="18" charset="0"/>
              <a:cs typeface="Times New Roman" pitchFamily="18" charset="0"/>
            </a:endParaRP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4</a:t>
            </a:r>
            <a:r>
              <a:rPr lang="en-US" sz="1800" baseline="30000" dirty="0">
                <a:solidFill>
                  <a:schemeClr val="tx1">
                    <a:lumMod val="65000"/>
                    <a:lumOff val="35000"/>
                  </a:schemeClr>
                </a:solidFill>
                <a:latin typeface="Times New Roman" pitchFamily="18" charset="0"/>
                <a:cs typeface="Times New Roman" pitchFamily="18" charset="0"/>
              </a:rPr>
              <a:t>th</a:t>
            </a:r>
            <a:r>
              <a:rPr lang="en-US" sz="1800" dirty="0">
                <a:solidFill>
                  <a:schemeClr val="tx1">
                    <a:lumMod val="65000"/>
                    <a:lumOff val="35000"/>
                  </a:schemeClr>
                </a:solidFill>
                <a:latin typeface="Times New Roman" pitchFamily="18" charset="0"/>
                <a:cs typeface="Times New Roman" pitchFamily="18" charset="0"/>
              </a:rPr>
              <a:t>  Year</a:t>
            </a:r>
          </a:p>
        </p:txBody>
      </p:sp>
      <p:sp>
        <p:nvSpPr>
          <p:cNvPr id="11" name="Footer Placeholder 3">
            <a:extLst>
              <a:ext uri="{FF2B5EF4-FFF2-40B4-BE49-F238E27FC236}">
                <a16:creationId xmlns:a16="http://schemas.microsoft.com/office/drawing/2014/main" id="{4567ABAB-4D96-BF4B-E136-5C677381B2F0}"/>
              </a:ext>
            </a:extLst>
          </p:cNvPr>
          <p:cNvSpPr txBox="1">
            <a:spLocks/>
          </p:cNvSpPr>
          <p:nvPr/>
        </p:nvSpPr>
        <p:spPr>
          <a:xfrm>
            <a:off x="2019300" y="6504292"/>
            <a:ext cx="5486400" cy="4572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452" y="426549"/>
            <a:ext cx="7162800" cy="706902"/>
          </a:xfrm>
        </p:spPr>
        <p:txBody>
          <a:bodyPr>
            <a:noAutofit/>
          </a:bodyPr>
          <a:lstStyle/>
          <a:p>
            <a:r>
              <a:rPr lang="en-US" dirty="0">
                <a:solidFill>
                  <a:srgbClr val="0070C0"/>
                </a:solidFill>
              </a:rPr>
              <a:t>Introduction</a:t>
            </a: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Subtitle 4">
            <a:extLst>
              <a:ext uri="{FF2B5EF4-FFF2-40B4-BE49-F238E27FC236}">
                <a16:creationId xmlns:a16="http://schemas.microsoft.com/office/drawing/2014/main" id="{77661180-2789-C4D1-3C42-D8D845533F47}"/>
              </a:ext>
            </a:extLst>
          </p:cNvPr>
          <p:cNvSpPr>
            <a:spLocks noGrp="1"/>
          </p:cNvSpPr>
          <p:nvPr>
            <p:ph type="subTitle" idx="1"/>
          </p:nvPr>
        </p:nvSpPr>
        <p:spPr>
          <a:xfrm>
            <a:off x="1093839" y="1653406"/>
            <a:ext cx="7406640" cy="1752600"/>
          </a:xfrm>
        </p:spPr>
        <p:txBody>
          <a:bodyPr>
            <a:normAutofit/>
          </a:bodyPr>
          <a:lstStyle/>
          <a:p>
            <a:r>
              <a:rPr lang="en-IN" sz="2000" b="1" dirty="0">
                <a:latin typeface="Times New Roman" panose="02020603050405020304" pitchFamily="18" charset="0"/>
                <a:cs typeface="Times New Roman" panose="02020603050405020304" pitchFamily="18" charset="0"/>
              </a:rPr>
              <a:t>Background: </a:t>
            </a:r>
          </a:p>
          <a:p>
            <a:pPr marL="313182" indent="-285750"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 Gorakhpur, the Rapti River plays a dominant role in shaping the city’s geography, hydrology, and ecology.</a:t>
            </a:r>
          </a:p>
          <a:p>
            <a:pPr marL="313182" indent="-285750"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region lies in the middle Gangetic alluvial plains, which are fertile but highly flood-prone due to the river’s behavior. </a:t>
            </a:r>
            <a:endParaRPr lang="en-IN" sz="18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6ED147C2-90CA-9FBE-5DF6-59B0C2663FA7}"/>
              </a:ext>
            </a:extLst>
          </p:cNvPr>
          <p:cNvSpPr txBox="1">
            <a:spLocks/>
          </p:cNvSpPr>
          <p:nvPr/>
        </p:nvSpPr>
        <p:spPr>
          <a:xfrm>
            <a:off x="1093839" y="3431458"/>
            <a:ext cx="7726268" cy="1752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Importance:</a:t>
            </a:r>
          </a:p>
          <a:p>
            <a:pPr marL="484632" indent="-457200">
              <a:buClr>
                <a:schemeClr val="tx1"/>
              </a:buClr>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Supports aquatic ecosystems and biodiversity</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Provides irrigation for large agricultural areas</a:t>
            </a:r>
          </a:p>
          <a:p>
            <a:pPr marL="484632" indent="-457200">
              <a:buClr>
                <a:schemeClr val="tx1"/>
              </a:buCl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Ensures safety and stability of excavation projects.</a:t>
            </a:r>
            <a:r>
              <a:rPr lang="en-IN" sz="1800" dirty="0">
                <a:solidFill>
                  <a:schemeClr val="tx1"/>
                </a:solidFill>
                <a:latin typeface="Times New Roman" panose="02020603050405020304" pitchFamily="18" charset="0"/>
                <a:cs typeface="Times New Roman" panose="02020603050405020304" pitchFamily="18" charset="0"/>
              </a:rPr>
              <a:t> </a:t>
            </a:r>
          </a:p>
        </p:txBody>
      </p:sp>
      <p:sp>
        <p:nvSpPr>
          <p:cNvPr id="7" name="Subtitle 2">
            <a:extLst>
              <a:ext uri="{FF2B5EF4-FFF2-40B4-BE49-F238E27FC236}">
                <a16:creationId xmlns:a16="http://schemas.microsoft.com/office/drawing/2014/main" id="{0A10CF45-E93A-D343-F7A8-A68EF0F1CE88}"/>
              </a:ext>
            </a:extLst>
          </p:cNvPr>
          <p:cNvSpPr txBox="1">
            <a:spLocks/>
          </p:cNvSpPr>
          <p:nvPr/>
        </p:nvSpPr>
        <p:spPr>
          <a:xfrm>
            <a:off x="1093839" y="4827713"/>
            <a:ext cx="7726268" cy="1603738"/>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Context: </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Water Quality Concerns.</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Flood and Erosion Issues.</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Urbanization and Population Pressure</a:t>
            </a:r>
            <a:endParaRPr lang="en-I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3">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9" name="Subtitle 2">
            <a:extLst>
              <a:ext uri="{FF2B5EF4-FFF2-40B4-BE49-F238E27FC236}">
                <a16:creationId xmlns:a16="http://schemas.microsoft.com/office/drawing/2014/main" id="{BC21433D-3157-577D-E285-9C99FAD8B14C}"/>
              </a:ext>
            </a:extLst>
          </p:cNvPr>
          <p:cNvSpPr txBox="1">
            <a:spLocks/>
          </p:cNvSpPr>
          <p:nvPr/>
        </p:nvSpPr>
        <p:spPr>
          <a:xfrm>
            <a:off x="1219612" y="1433768"/>
            <a:ext cx="7406640" cy="1407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Define the Problem: </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Water Pollution.</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Frequent Flooding.</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Riverbank Erosion and Siltation</a:t>
            </a:r>
            <a:r>
              <a:rPr lang="en-IN" sz="1800" dirty="0"/>
              <a:t>.</a:t>
            </a:r>
          </a:p>
          <a:p>
            <a:pPr marL="484632" indent="-457200">
              <a:buClr>
                <a:schemeClr val="tx1"/>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10" name="Subtitle 2">
            <a:extLst>
              <a:ext uri="{FF2B5EF4-FFF2-40B4-BE49-F238E27FC236}">
                <a16:creationId xmlns:a16="http://schemas.microsoft.com/office/drawing/2014/main" id="{8E8FE5EF-D06A-FDAC-CE22-5E5B38AFFCC5}"/>
              </a:ext>
            </a:extLst>
          </p:cNvPr>
          <p:cNvSpPr txBox="1">
            <a:spLocks/>
          </p:cNvSpPr>
          <p:nvPr/>
        </p:nvSpPr>
        <p:spPr>
          <a:xfrm>
            <a:off x="1219612" y="3141685"/>
            <a:ext cx="7406640" cy="1166244"/>
          </a:xfrm>
          <a:prstGeom prst="rect">
            <a:avLst/>
          </a:prstGeom>
        </p:spPr>
        <p:txBody>
          <a:bodyPr tIns="0">
            <a:normAutofit fontScale="85000" lnSpcReduction="20000"/>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Why it matters: </a:t>
            </a:r>
          </a:p>
          <a:p>
            <a:pPr marL="484632" indent="-457200">
              <a:buClr>
                <a:schemeClr val="tx1"/>
              </a:buClr>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Environmental Impact</a:t>
            </a:r>
            <a:r>
              <a:rPr lang="en-US" sz="2100" dirty="0">
                <a:solidFill>
                  <a:schemeClr val="tx1"/>
                </a:solidFill>
                <a:latin typeface="Times New Roman" panose="02020603050405020304" pitchFamily="18" charset="0"/>
                <a:cs typeface="Times New Roman" panose="02020603050405020304" pitchFamily="18" charset="0"/>
              </a:rPr>
              <a:t>.</a:t>
            </a:r>
          </a:p>
          <a:p>
            <a:pPr marL="484632" indent="-457200">
              <a:buClr>
                <a:schemeClr val="tx1"/>
              </a:buClr>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Public Health Concerns</a:t>
            </a:r>
            <a:r>
              <a:rPr lang="en-US" sz="2100" dirty="0">
                <a:solidFill>
                  <a:schemeClr val="tx1"/>
                </a:solidFill>
                <a:latin typeface="Times New Roman" panose="02020603050405020304" pitchFamily="18" charset="0"/>
                <a:cs typeface="Times New Roman" panose="02020603050405020304" pitchFamily="18" charset="0"/>
              </a:rPr>
              <a:t>.</a:t>
            </a:r>
          </a:p>
          <a:p>
            <a:pPr marL="484632" indent="-457200">
              <a:buClr>
                <a:schemeClr val="tx1"/>
              </a:buClr>
              <a:buFont typeface="Wingdings" panose="05000000000000000000" pitchFamily="2" charset="2"/>
              <a:buChar char="Ø"/>
            </a:pPr>
            <a:r>
              <a:rPr lang="en-IN" sz="2100" dirty="0">
                <a:latin typeface="Times New Roman" panose="02020603050405020304" pitchFamily="18" charset="0"/>
                <a:cs typeface="Times New Roman" panose="02020603050405020304" pitchFamily="18" charset="0"/>
              </a:rPr>
              <a:t>Agricultural Dependency</a:t>
            </a:r>
            <a:endParaRPr lang="en-US" sz="2100" dirty="0">
              <a:latin typeface="Times New Roman" panose="02020603050405020304" pitchFamily="18" charset="0"/>
              <a:cs typeface="Times New Roman" panose="02020603050405020304" pitchFamily="18" charset="0"/>
            </a:endParaRPr>
          </a:p>
        </p:txBody>
      </p:sp>
      <p:sp>
        <p:nvSpPr>
          <p:cNvPr id="11" name="Subtitle 2">
            <a:extLst>
              <a:ext uri="{FF2B5EF4-FFF2-40B4-BE49-F238E27FC236}">
                <a16:creationId xmlns:a16="http://schemas.microsoft.com/office/drawing/2014/main" id="{F9AA3A12-ABEE-D6A0-5544-D61FE1BA6595}"/>
              </a:ext>
            </a:extLst>
          </p:cNvPr>
          <p:cNvSpPr txBox="1">
            <a:spLocks/>
          </p:cNvSpPr>
          <p:nvPr/>
        </p:nvSpPr>
        <p:spPr>
          <a:xfrm>
            <a:off x="1143000" y="4495800"/>
            <a:ext cx="7406640" cy="1166244"/>
          </a:xfrm>
          <a:prstGeom prst="rect">
            <a:avLst/>
          </a:prstGeom>
        </p:spPr>
        <p:txBody>
          <a:bodyPr tIns="0">
            <a:normAutofit fontScale="92500" lnSpcReduction="20000"/>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Current Gap: </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Lack of Integrated Studies.</a:t>
            </a:r>
          </a:p>
          <a:p>
            <a:pPr marL="484632" indent="-457200">
              <a:buClr>
                <a:schemeClr val="tx1"/>
              </a:buCl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Limited Pollution Source Identification.</a:t>
            </a:r>
          </a:p>
          <a:p>
            <a:pPr marL="484632" indent="-457200">
              <a:buClr>
                <a:schemeClr val="tx1"/>
              </a:buClr>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Inadequate Use of Modern Techniques.</a:t>
            </a:r>
          </a:p>
        </p:txBody>
      </p:sp>
    </p:spTree>
    <p:extLst>
      <p:ext uri="{BB962C8B-B14F-4D97-AF65-F5344CB8AC3E}">
        <p14:creationId xmlns:p14="http://schemas.microsoft.com/office/powerpoint/2010/main" val="37954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Objectives</a:t>
            </a:r>
            <a:endParaRPr lang="en-US" dirty="0"/>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066800" y="1295400"/>
            <a:ext cx="7406640" cy="3210620"/>
          </a:xfrm>
        </p:spPr>
        <p:txBody>
          <a:bodyPr>
            <a:noAutofit/>
          </a:bodyPr>
          <a:lstStyle/>
          <a:p>
            <a:pPr marL="0" algn="just">
              <a:lnSpc>
                <a:spcPct val="150000"/>
              </a:lnSpc>
            </a:pPr>
            <a:r>
              <a:rPr lang="en-US" sz="1200" dirty="0"/>
              <a:t> </a:t>
            </a:r>
            <a:endParaRPr lang="en-US" sz="1200" b="1" dirty="0">
              <a:cs typeface="Times New Roman" panose="02020603050405020304" pitchFamily="18" charset="0"/>
            </a:endParaRPr>
          </a:p>
          <a:p>
            <a:pPr marL="0" algn="just">
              <a:lnSpc>
                <a:spcPct val="150000"/>
              </a:lnSpc>
            </a:pPr>
            <a:r>
              <a:rPr lang="en-US" sz="1200" dirty="0"/>
              <a:t> </a:t>
            </a:r>
            <a:endParaRPr lang="en-US" sz="1200" b="1" dirty="0">
              <a:cs typeface="Times New Roman" panose="02020603050405020304" pitchFamily="18" charset="0"/>
            </a:endParaRPr>
          </a:p>
          <a:p>
            <a:pPr marL="370332" indent="-342900">
              <a:lnSpc>
                <a:spcPct val="150000"/>
              </a:lnSpc>
              <a:buClr>
                <a:schemeClr val="tx1"/>
              </a:buClr>
              <a:buSzPct val="95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 1: </a:t>
            </a:r>
            <a:r>
              <a:rPr lang="en-US" sz="1800" dirty="0">
                <a:latin typeface="Times New Roman" panose="02020603050405020304" pitchFamily="18" charset="0"/>
                <a:cs typeface="Times New Roman" panose="02020603050405020304" pitchFamily="18" charset="0"/>
              </a:rPr>
              <a:t>To access variation in water quality characteristics across different location in Gorakhpur .</a:t>
            </a:r>
            <a:endParaRPr lang="en-US" sz="1200" dirty="0">
              <a:latin typeface="Times New Roman" panose="02020603050405020304" pitchFamily="18" charset="0"/>
              <a:cs typeface="Times New Roman" panose="02020603050405020304" pitchFamily="18" charset="0"/>
            </a:endParaRPr>
          </a:p>
          <a:p>
            <a:pPr marL="370332" indent="-342900">
              <a:lnSpc>
                <a:spcPct val="150000"/>
              </a:lnSpc>
              <a:buClr>
                <a:schemeClr val="tx1"/>
              </a:buClr>
              <a:buSzPct val="95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 2</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Evaluate the presence and concentration of pollutants </a:t>
            </a:r>
            <a:r>
              <a:rPr lang="en-US" sz="1200" dirty="0">
                <a:cs typeface="Times New Roman" panose="02020603050405020304" pitchFamily="18" charset="0"/>
              </a:rPr>
              <a:t>. </a:t>
            </a:r>
          </a:p>
          <a:p>
            <a:pPr marL="370332" indent="-342900">
              <a:lnSpc>
                <a:spcPct val="150000"/>
              </a:lnSpc>
              <a:buClr>
                <a:schemeClr val="tx1"/>
              </a:buClr>
              <a:buSzPct val="95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 3: </a:t>
            </a:r>
            <a:r>
              <a:rPr lang="en-US" sz="1800" dirty="0">
                <a:cs typeface="Times New Roman" panose="02020603050405020304" pitchFamily="18" charset="0"/>
              </a:rPr>
              <a:t>Identify the sources of pollution (domestic, industrial, agricultural runoff, etc.).</a:t>
            </a:r>
            <a:r>
              <a:rPr lang="en-US" sz="1800" dirty="0"/>
              <a:t> </a:t>
            </a:r>
            <a:endParaRPr lang="en-US" sz="1200" dirty="0"/>
          </a:p>
          <a:p>
            <a:pPr>
              <a:lnSpc>
                <a:spcPct val="150000"/>
              </a:lnSpc>
            </a:pPr>
            <a:endParaRPr lang="en-US" sz="1200" dirty="0"/>
          </a:p>
          <a:p>
            <a:pPr>
              <a:lnSpc>
                <a:spcPct val="150000"/>
              </a:lnSpc>
            </a:pPr>
            <a:endParaRPr lang="en-IN" sz="1200" dirty="0"/>
          </a:p>
          <a:p>
            <a:pPr>
              <a:lnSpc>
                <a:spcPct val="150000"/>
              </a:lnSpc>
            </a:pPr>
            <a:endParaRPr lang="en-US" sz="1200" dirty="0"/>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00220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Literature Survey</a:t>
            </a:r>
            <a:endParaRPr lang="en-US" dirty="0"/>
          </a:p>
        </p:txBody>
      </p:sp>
      <p:sp>
        <p:nvSpPr>
          <p:cNvPr id="3" name="Subtitle 2">
            <a:extLst>
              <a:ext uri="{FF2B5EF4-FFF2-40B4-BE49-F238E27FC236}">
                <a16:creationId xmlns:a16="http://schemas.microsoft.com/office/drawing/2014/main" id="{46C74D16-14DD-63CE-F325-177BB5A7E0AA}"/>
              </a:ext>
            </a:extLst>
          </p:cNvPr>
          <p:cNvSpPr>
            <a:spLocks noGrp="1"/>
          </p:cNvSpPr>
          <p:nvPr>
            <p:ph type="subTitle" idx="1"/>
          </p:nvPr>
        </p:nvSpPr>
        <p:spPr>
          <a:xfrm>
            <a:off x="1242097" y="1752600"/>
            <a:ext cx="7406640" cy="3560136"/>
          </a:xfrm>
        </p:spPr>
        <p:txBody>
          <a:bodyPr>
            <a:normAutofit/>
          </a:bodyPr>
          <a:lstStyle/>
          <a:p>
            <a:pPr marL="198882" indent="-171450" algn="just">
              <a:buClr>
                <a:schemeClr val="tx1"/>
              </a:buClr>
              <a:buSzPct val="95000"/>
              <a:buFont typeface="Arial" panose="020B0604020202020204" pitchFamily="34" charset="0"/>
              <a:buChar char="•"/>
            </a:pPr>
            <a:r>
              <a:rPr lang="en-US" sz="1200" dirty="0"/>
              <a:t> </a:t>
            </a:r>
            <a:r>
              <a:rPr lang="en-US" sz="1200" b="1" dirty="0">
                <a:cs typeface="Times New Roman" panose="02020603050405020304" pitchFamily="18" charset="0"/>
              </a:rPr>
              <a:t>Yadav, D. &amp; Pandey, G. (2021)- </a:t>
            </a:r>
            <a:r>
              <a:rPr lang="en-US" sz="1200" dirty="0">
                <a:cs typeface="Times New Roman" panose="02020603050405020304" pitchFamily="18" charset="0"/>
              </a:rPr>
              <a:t>Gorakhpur is situated from bank of Rapti River. Rapti River is joined at Sohgaura with Ami River which is highly polluted as compare to Rapti River. Rapti River has a confluence into Ghaghra River at Kaparwar Ghat. The present study is conducted to determine the water quality of Rapti River using physical and Chemical parameters including pH, Turbidity, Total dissolved solids, Dissolved Oxygen (DO), and Total Hardness by collecting Three sets of samples from five locations from December, 2020 to February, 2021.</a:t>
            </a:r>
          </a:p>
          <a:p>
            <a:pPr marL="198882" indent="-171450" algn="just">
              <a:buClr>
                <a:schemeClr val="tx1"/>
              </a:buClr>
              <a:buSzPct val="95000"/>
              <a:buFont typeface="Arial" panose="020B0604020202020204" pitchFamily="34" charset="0"/>
              <a:buChar char="•"/>
            </a:pPr>
            <a:r>
              <a:rPr lang="en-US" sz="1200" dirty="0">
                <a:cs typeface="Times New Roman" panose="02020603050405020304" pitchFamily="18" charset="0"/>
              </a:rPr>
              <a:t> </a:t>
            </a:r>
            <a:r>
              <a:rPr lang="en-IN" sz="1200" b="1" dirty="0">
                <a:cs typeface="Times New Roman" panose="02020603050405020304" pitchFamily="18" charset="0"/>
              </a:rPr>
              <a:t>Mishra, KD (2020)- </a:t>
            </a:r>
            <a:r>
              <a:rPr lang="en-IN" sz="1200" dirty="0">
                <a:cs typeface="Times New Roman" panose="02020603050405020304" pitchFamily="18" charset="0"/>
              </a:rPr>
              <a:t>This paper illustrates the quality of Yamuna River water from the Agra region of Uttar Pradesh. This river is the second largest tributary of Ganga which flows from Uttrakhand to Haryana and then enters into Noida, Uttar Pradesh, and lastly merges into Ganga River at Triveni Sangam in Prayagraj, Uttar Pradesh. </a:t>
            </a:r>
            <a:endParaRPr lang="en-US" sz="1200" dirty="0">
              <a:cs typeface="Times New Roman" panose="02020603050405020304" pitchFamily="18" charset="0"/>
            </a:endParaRPr>
          </a:p>
          <a:p>
            <a:pPr marL="198882" indent="-171450" algn="just">
              <a:buClr>
                <a:schemeClr val="tx1"/>
              </a:buClr>
              <a:buSzPct val="95000"/>
              <a:buFont typeface="Arial" panose="020B0604020202020204" pitchFamily="34" charset="0"/>
              <a:buChar char="•"/>
            </a:pPr>
            <a:r>
              <a:rPr lang="en-US" sz="1200" b="1" dirty="0">
                <a:cs typeface="Times New Roman" panose="02020603050405020304" pitchFamily="18" charset="0"/>
              </a:rPr>
              <a:t>Gond, M. &amp; Pandey, G. (2017</a:t>
            </a:r>
            <a:r>
              <a:rPr lang="en-US" sz="1200" dirty="0">
                <a:cs typeface="Times New Roman" panose="02020603050405020304" pitchFamily="18" charset="0"/>
              </a:rPr>
              <a:t>)- In this study, water quality evaluation was completed in 8 stations of Gorakhpur city. The study's point was to survey the physico-chemical parameters of drinking water quality from groundwater sources. It is found that the increment in the level of a portion of the physico chemical parameters of ground water has risen as a vital issue in urban areas.</a:t>
            </a:r>
          </a:p>
          <a:p>
            <a:pPr marL="198882" indent="-171450">
              <a:buClr>
                <a:schemeClr val="tx1"/>
              </a:buClr>
              <a:buSzPct val="95000"/>
              <a:buFont typeface="Arial" panose="020B0604020202020204" pitchFamily="34" charset="0"/>
              <a:buChar char="•"/>
            </a:pPr>
            <a:endParaRPr lang="en-US" sz="1200" dirty="0"/>
          </a:p>
          <a:p>
            <a:pPr algn="just">
              <a:buClr>
                <a:schemeClr val="tx1"/>
              </a:buClr>
              <a:buSzPct val="95000"/>
            </a:pPr>
            <a:endParaRPr lang="en-US" sz="1200" dirty="0"/>
          </a:p>
          <a:p>
            <a:pPr marL="198882" indent="-171450">
              <a:buClr>
                <a:schemeClr val="tx1"/>
              </a:buClr>
              <a:buSzPct val="95000"/>
              <a:buFont typeface="Arial" panose="020B0604020202020204" pitchFamily="34" charset="0"/>
              <a:buChar char="•"/>
            </a:pPr>
            <a:endParaRPr lang="en-US" sz="1200" dirty="0"/>
          </a:p>
          <a:p>
            <a:pPr marL="198882" indent="-171450">
              <a:buClr>
                <a:schemeClr val="tx1"/>
              </a:buClr>
              <a:buSzPct val="95000"/>
              <a:buFont typeface="Arial" panose="020B0604020202020204" pitchFamily="34" charset="0"/>
              <a:buChar char="•"/>
            </a:pPr>
            <a:endParaRPr lang="en-US" sz="1200" dirty="0"/>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36823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cxnSp>
        <p:nvCxnSpPr>
          <p:cNvPr id="125" name="Straight Arrow Connector 124">
            <a:extLst>
              <a:ext uri="{FF2B5EF4-FFF2-40B4-BE49-F238E27FC236}">
                <a16:creationId xmlns:a16="http://schemas.microsoft.com/office/drawing/2014/main" id="{D3102677-CB80-88B6-E9FB-9A3D371CB49C}"/>
              </a:ext>
            </a:extLst>
          </p:cNvPr>
          <p:cNvCxnSpPr>
            <a:cxnSpLocks/>
          </p:cNvCxnSpPr>
          <p:nvPr/>
        </p:nvCxnSpPr>
        <p:spPr>
          <a:xfrm flipH="1">
            <a:off x="7371185" y="5668637"/>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7411AA7-F723-27D3-BF40-0014CB83ACE7}"/>
              </a:ext>
            </a:extLst>
          </p:cNvPr>
          <p:cNvCxnSpPr>
            <a:cxnSpLocks/>
          </p:cNvCxnSpPr>
          <p:nvPr/>
        </p:nvCxnSpPr>
        <p:spPr>
          <a:xfrm flipH="1">
            <a:off x="7316462" y="2492981"/>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311052" y="426548"/>
            <a:ext cx="7832948" cy="1407600"/>
          </a:xfrm>
        </p:spPr>
        <p:txBody>
          <a:bodyPr>
            <a:noAutofit/>
          </a:bodyPr>
          <a:lstStyle/>
          <a:p>
            <a:br>
              <a:rPr lang="en-US" dirty="0">
                <a:solidFill>
                  <a:srgbClr val="0070C0"/>
                </a:solidFill>
              </a:rPr>
            </a:br>
            <a:r>
              <a:rPr lang="en-US" dirty="0">
                <a:solidFill>
                  <a:srgbClr val="0070C0"/>
                </a:solidFill>
              </a:rPr>
              <a:t>Proposed Solution / Methodology</a:t>
            </a:r>
            <a:br>
              <a:rPr lang="en-US" sz="4400" dirty="0">
                <a:solidFill>
                  <a:schemeClr val="tx2">
                    <a:lumMod val="75000"/>
                  </a:schemeClr>
                </a:solidFill>
              </a:rPr>
            </a:br>
            <a:endParaRPr lang="en-US" dirty="0"/>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228600" y="152400"/>
            <a:ext cx="1407600" cy="1407600"/>
          </a:xfrm>
          <a:prstGeom prst="rect">
            <a:avLst/>
          </a:prstGeom>
        </p:spPr>
      </p:pic>
      <p:sp>
        <p:nvSpPr>
          <p:cNvPr id="67" name="Rectangle: Rounded Corners 66">
            <a:extLst>
              <a:ext uri="{FF2B5EF4-FFF2-40B4-BE49-F238E27FC236}">
                <a16:creationId xmlns:a16="http://schemas.microsoft.com/office/drawing/2014/main" id="{70358303-AC74-0213-9FD5-6D89E24003E5}"/>
              </a:ext>
            </a:extLst>
          </p:cNvPr>
          <p:cNvSpPr/>
          <p:nvPr/>
        </p:nvSpPr>
        <p:spPr>
          <a:xfrm>
            <a:off x="1287627" y="3146974"/>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RAJGHAT BRIDGE</a:t>
            </a:r>
            <a:endParaRPr lang="en-IN" sz="1400" dirty="0">
              <a:cs typeface="Times New Roman" panose="02020603050405020304" pitchFamily="18" charset="0"/>
            </a:endParaRPr>
          </a:p>
        </p:txBody>
      </p:sp>
      <p:sp>
        <p:nvSpPr>
          <p:cNvPr id="68" name="Rectangle: Rounded Corners 67">
            <a:extLst>
              <a:ext uri="{FF2B5EF4-FFF2-40B4-BE49-F238E27FC236}">
                <a16:creationId xmlns:a16="http://schemas.microsoft.com/office/drawing/2014/main" id="{2E670ABB-1338-5F3F-DEA6-EA2AC20657CC}"/>
              </a:ext>
            </a:extLst>
          </p:cNvPr>
          <p:cNvSpPr/>
          <p:nvPr/>
        </p:nvSpPr>
        <p:spPr>
          <a:xfrm>
            <a:off x="1282449" y="3911218"/>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BARHUAN</a:t>
            </a:r>
            <a:endParaRPr lang="en-IN" sz="1400" dirty="0">
              <a:cs typeface="Times New Roman" panose="02020603050405020304" pitchFamily="18" charset="0"/>
            </a:endParaRPr>
          </a:p>
        </p:txBody>
      </p:sp>
      <p:sp>
        <p:nvSpPr>
          <p:cNvPr id="69" name="Rectangle: Rounded Corners 68">
            <a:extLst>
              <a:ext uri="{FF2B5EF4-FFF2-40B4-BE49-F238E27FC236}">
                <a16:creationId xmlns:a16="http://schemas.microsoft.com/office/drawing/2014/main" id="{7BC57FBA-B2A5-31BD-A9B7-982830C41A52}"/>
              </a:ext>
            </a:extLst>
          </p:cNvPr>
          <p:cNvSpPr/>
          <p:nvPr/>
        </p:nvSpPr>
        <p:spPr>
          <a:xfrm>
            <a:off x="1263954" y="4670126"/>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MOKSH DHAM </a:t>
            </a:r>
            <a:endParaRPr lang="en-IN" sz="1400" dirty="0">
              <a:cs typeface="Times New Roman" panose="02020603050405020304" pitchFamily="18" charset="0"/>
            </a:endParaRPr>
          </a:p>
        </p:txBody>
      </p:sp>
      <p:sp>
        <p:nvSpPr>
          <p:cNvPr id="70" name="Rectangle: Rounded Corners 69">
            <a:extLst>
              <a:ext uri="{FF2B5EF4-FFF2-40B4-BE49-F238E27FC236}">
                <a16:creationId xmlns:a16="http://schemas.microsoft.com/office/drawing/2014/main" id="{66FE4624-C8CD-6445-5019-ECCCF8786A9F}"/>
              </a:ext>
            </a:extLst>
          </p:cNvPr>
          <p:cNvSpPr/>
          <p:nvPr/>
        </p:nvSpPr>
        <p:spPr>
          <a:xfrm>
            <a:off x="1263954" y="5439706"/>
            <a:ext cx="2160000" cy="4318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MUHAMDPUR MAPHI</a:t>
            </a:r>
            <a:endParaRPr lang="en-IN" sz="1400" dirty="0">
              <a:cs typeface="Times New Roman" panose="02020603050405020304" pitchFamily="18" charset="0"/>
            </a:endParaRPr>
          </a:p>
        </p:txBody>
      </p:sp>
      <p:sp>
        <p:nvSpPr>
          <p:cNvPr id="71" name="Rectangle: Rounded Corners 70">
            <a:extLst>
              <a:ext uri="{FF2B5EF4-FFF2-40B4-BE49-F238E27FC236}">
                <a16:creationId xmlns:a16="http://schemas.microsoft.com/office/drawing/2014/main" id="{85F06CAE-8E47-0D9A-223E-A0808C644635}"/>
              </a:ext>
            </a:extLst>
          </p:cNvPr>
          <p:cNvSpPr/>
          <p:nvPr/>
        </p:nvSpPr>
        <p:spPr>
          <a:xfrm>
            <a:off x="6280835" y="2819400"/>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TURBIDITY </a:t>
            </a:r>
            <a:endParaRPr lang="en-IN" sz="1400" dirty="0"/>
          </a:p>
        </p:txBody>
      </p:sp>
      <p:sp>
        <p:nvSpPr>
          <p:cNvPr id="72" name="Rectangle: Rounded Corners 71">
            <a:extLst>
              <a:ext uri="{FF2B5EF4-FFF2-40B4-BE49-F238E27FC236}">
                <a16:creationId xmlns:a16="http://schemas.microsoft.com/office/drawing/2014/main" id="{7388AF63-259F-C88A-5647-D010FF4FC7C8}"/>
              </a:ext>
            </a:extLst>
          </p:cNvPr>
          <p:cNvSpPr/>
          <p:nvPr/>
        </p:nvSpPr>
        <p:spPr>
          <a:xfrm>
            <a:off x="6280835" y="3199131"/>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ACIDITY </a:t>
            </a:r>
            <a:endParaRPr lang="en-IN" sz="1400" dirty="0"/>
          </a:p>
        </p:txBody>
      </p:sp>
      <p:sp>
        <p:nvSpPr>
          <p:cNvPr id="73" name="Rectangle: Rounded Corners 72">
            <a:extLst>
              <a:ext uri="{FF2B5EF4-FFF2-40B4-BE49-F238E27FC236}">
                <a16:creationId xmlns:a16="http://schemas.microsoft.com/office/drawing/2014/main" id="{885578CC-002A-18BF-267B-6A62DE002048}"/>
              </a:ext>
            </a:extLst>
          </p:cNvPr>
          <p:cNvSpPr/>
          <p:nvPr/>
        </p:nvSpPr>
        <p:spPr>
          <a:xfrm>
            <a:off x="6280835" y="3618490"/>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ALKALINITY</a:t>
            </a:r>
            <a:endParaRPr lang="en-IN" sz="1400" dirty="0"/>
          </a:p>
        </p:txBody>
      </p:sp>
      <p:sp>
        <p:nvSpPr>
          <p:cNvPr id="74" name="Rectangle: Rounded Corners 73">
            <a:extLst>
              <a:ext uri="{FF2B5EF4-FFF2-40B4-BE49-F238E27FC236}">
                <a16:creationId xmlns:a16="http://schemas.microsoft.com/office/drawing/2014/main" id="{76ECF51B-5791-8372-055C-D6BC59A3ECF9}"/>
              </a:ext>
            </a:extLst>
          </p:cNvPr>
          <p:cNvSpPr/>
          <p:nvPr/>
        </p:nvSpPr>
        <p:spPr>
          <a:xfrm>
            <a:off x="6270478" y="4041769"/>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HARDNESS</a:t>
            </a:r>
            <a:endParaRPr lang="en-IN" sz="1400" dirty="0"/>
          </a:p>
        </p:txBody>
      </p:sp>
      <p:sp>
        <p:nvSpPr>
          <p:cNvPr id="75" name="Rectangle: Rounded Corners 74">
            <a:extLst>
              <a:ext uri="{FF2B5EF4-FFF2-40B4-BE49-F238E27FC236}">
                <a16:creationId xmlns:a16="http://schemas.microsoft.com/office/drawing/2014/main" id="{471A4C6D-B91E-0D6E-F9CB-B8F6CC48167A}"/>
              </a:ext>
            </a:extLst>
          </p:cNvPr>
          <p:cNvSpPr/>
          <p:nvPr/>
        </p:nvSpPr>
        <p:spPr>
          <a:xfrm>
            <a:off x="6254201" y="4475992"/>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cs typeface="Times New Roman" panose="02020603050405020304" pitchFamily="18" charset="0"/>
              </a:rPr>
              <a:t>pH VALUE</a:t>
            </a:r>
            <a:endParaRPr lang="en-IN" sz="1400" dirty="0"/>
          </a:p>
        </p:txBody>
      </p:sp>
      <p:sp>
        <p:nvSpPr>
          <p:cNvPr id="78" name="Oval 77">
            <a:extLst>
              <a:ext uri="{FF2B5EF4-FFF2-40B4-BE49-F238E27FC236}">
                <a16:creationId xmlns:a16="http://schemas.microsoft.com/office/drawing/2014/main" id="{09359479-27D6-6C47-EFFA-1101E4C1D833}"/>
              </a:ext>
            </a:extLst>
          </p:cNvPr>
          <p:cNvSpPr/>
          <p:nvPr/>
        </p:nvSpPr>
        <p:spPr>
          <a:xfrm>
            <a:off x="1263954" y="2227800"/>
            <a:ext cx="2228046" cy="622832"/>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cs typeface="Times New Roman" panose="02020603050405020304" pitchFamily="18" charset="0"/>
              </a:rPr>
              <a:t>SAMPLING STATIONS </a:t>
            </a:r>
            <a:endParaRPr lang="en-IN" sz="1400" b="1" dirty="0">
              <a:cs typeface="Times New Roman" panose="02020603050405020304" pitchFamily="18" charset="0"/>
            </a:endParaRPr>
          </a:p>
        </p:txBody>
      </p:sp>
      <p:sp>
        <p:nvSpPr>
          <p:cNvPr id="79" name="Oval 78">
            <a:extLst>
              <a:ext uri="{FF2B5EF4-FFF2-40B4-BE49-F238E27FC236}">
                <a16:creationId xmlns:a16="http://schemas.microsoft.com/office/drawing/2014/main" id="{70F988A8-95BB-A139-981E-62771545966F}"/>
              </a:ext>
            </a:extLst>
          </p:cNvPr>
          <p:cNvSpPr/>
          <p:nvPr/>
        </p:nvSpPr>
        <p:spPr>
          <a:xfrm>
            <a:off x="6212789" y="1975114"/>
            <a:ext cx="2228046" cy="622832"/>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cs typeface="Times New Roman" panose="02020603050405020304" pitchFamily="18" charset="0"/>
              </a:rPr>
              <a:t> PARAMETERS</a:t>
            </a:r>
            <a:endParaRPr lang="en-IN" sz="1400" b="1" dirty="0">
              <a:cs typeface="Times New Roman" panose="02020603050405020304" pitchFamily="18" charset="0"/>
            </a:endParaRPr>
          </a:p>
        </p:txBody>
      </p:sp>
      <p:sp>
        <p:nvSpPr>
          <p:cNvPr id="80" name="Rectangle: Rounded Corners 79">
            <a:extLst>
              <a:ext uri="{FF2B5EF4-FFF2-40B4-BE49-F238E27FC236}">
                <a16:creationId xmlns:a16="http://schemas.microsoft.com/office/drawing/2014/main" id="{AC73E91E-3914-7773-43B3-08B0D79FC44F}"/>
              </a:ext>
            </a:extLst>
          </p:cNvPr>
          <p:cNvSpPr/>
          <p:nvPr/>
        </p:nvSpPr>
        <p:spPr>
          <a:xfrm>
            <a:off x="6254201" y="4851496"/>
            <a:ext cx="2160000" cy="43189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TDS</a:t>
            </a:r>
            <a:endParaRPr lang="en-IN" sz="1400" dirty="0"/>
          </a:p>
        </p:txBody>
      </p:sp>
      <p:sp>
        <p:nvSpPr>
          <p:cNvPr id="81" name="Rectangle: Rounded Corners 80">
            <a:extLst>
              <a:ext uri="{FF2B5EF4-FFF2-40B4-BE49-F238E27FC236}">
                <a16:creationId xmlns:a16="http://schemas.microsoft.com/office/drawing/2014/main" id="{A0F20949-A6D7-581D-A4D2-5F73BC611555}"/>
              </a:ext>
            </a:extLst>
          </p:cNvPr>
          <p:cNvSpPr/>
          <p:nvPr/>
        </p:nvSpPr>
        <p:spPr>
          <a:xfrm>
            <a:off x="3657600" y="1383130"/>
            <a:ext cx="2160000" cy="431896"/>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WATER SAMPLE </a:t>
            </a:r>
            <a:endParaRPr lang="en-IN" sz="1600" b="1" dirty="0"/>
          </a:p>
        </p:txBody>
      </p:sp>
      <p:cxnSp>
        <p:nvCxnSpPr>
          <p:cNvPr id="83" name="Connector: Elbow 82">
            <a:extLst>
              <a:ext uri="{FF2B5EF4-FFF2-40B4-BE49-F238E27FC236}">
                <a16:creationId xmlns:a16="http://schemas.microsoft.com/office/drawing/2014/main" id="{A39B682C-46F4-9F17-B35C-0B7CE13F65BF}"/>
              </a:ext>
            </a:extLst>
          </p:cNvPr>
          <p:cNvCxnSpPr>
            <a:cxnSpLocks/>
            <a:stCxn id="81" idx="1"/>
            <a:endCxn id="78" idx="0"/>
          </p:cNvCxnSpPr>
          <p:nvPr/>
        </p:nvCxnSpPr>
        <p:spPr>
          <a:xfrm rot="10800000" flipV="1">
            <a:off x="2377978" y="1599078"/>
            <a:ext cx="1279623" cy="628722"/>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CF64C17-6722-549A-8E1E-17D3611BDB36}"/>
              </a:ext>
            </a:extLst>
          </p:cNvPr>
          <p:cNvCxnSpPr>
            <a:cxnSpLocks/>
            <a:stCxn id="78" idx="4"/>
            <a:endCxn id="67" idx="0"/>
          </p:cNvCxnSpPr>
          <p:nvPr/>
        </p:nvCxnSpPr>
        <p:spPr>
          <a:xfrm flipH="1">
            <a:off x="2367627" y="2850632"/>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B7AF4DB-B3E1-AC08-7170-5C2D34A9BFA1}"/>
              </a:ext>
            </a:extLst>
          </p:cNvPr>
          <p:cNvCxnSpPr>
            <a:cxnSpLocks/>
          </p:cNvCxnSpPr>
          <p:nvPr/>
        </p:nvCxnSpPr>
        <p:spPr>
          <a:xfrm flipH="1">
            <a:off x="2358757" y="3625117"/>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3DC9140-2C15-861F-32B1-E5C76AC4AD4F}"/>
              </a:ext>
            </a:extLst>
          </p:cNvPr>
          <p:cNvCxnSpPr>
            <a:cxnSpLocks/>
          </p:cNvCxnSpPr>
          <p:nvPr/>
        </p:nvCxnSpPr>
        <p:spPr>
          <a:xfrm flipH="1">
            <a:off x="2358757" y="4343400"/>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A519B0E3-862D-AF99-9E07-2806866C217E}"/>
              </a:ext>
            </a:extLst>
          </p:cNvPr>
          <p:cNvCxnSpPr>
            <a:cxnSpLocks/>
          </p:cNvCxnSpPr>
          <p:nvPr/>
        </p:nvCxnSpPr>
        <p:spPr>
          <a:xfrm flipH="1">
            <a:off x="2333604" y="5122693"/>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CFC2EC25-E7D0-8CD6-B03C-EE3C897B77BB}"/>
              </a:ext>
            </a:extLst>
          </p:cNvPr>
          <p:cNvSpPr/>
          <p:nvPr/>
        </p:nvSpPr>
        <p:spPr>
          <a:xfrm>
            <a:off x="3776829" y="3505200"/>
            <a:ext cx="2149650" cy="1282632"/>
          </a:xfrm>
          <a:prstGeom prst="roundRect">
            <a:avLst/>
          </a:prstGeom>
          <a:solidFill>
            <a:schemeClr val="accent6">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LABORATORY EXPERIMENTS</a:t>
            </a:r>
            <a:endParaRPr lang="en-IN" b="1" dirty="0"/>
          </a:p>
        </p:txBody>
      </p:sp>
      <p:cxnSp>
        <p:nvCxnSpPr>
          <p:cNvPr id="94" name="Connector: Elbow 93">
            <a:extLst>
              <a:ext uri="{FF2B5EF4-FFF2-40B4-BE49-F238E27FC236}">
                <a16:creationId xmlns:a16="http://schemas.microsoft.com/office/drawing/2014/main" id="{24E46EF0-605C-90F8-1567-7A2C44249F8E}"/>
              </a:ext>
            </a:extLst>
          </p:cNvPr>
          <p:cNvCxnSpPr>
            <a:cxnSpLocks/>
            <a:stCxn id="70" idx="2"/>
            <a:endCxn id="92" idx="2"/>
          </p:cNvCxnSpPr>
          <p:nvPr/>
        </p:nvCxnSpPr>
        <p:spPr>
          <a:xfrm rot="5400000" flipH="1" flipV="1">
            <a:off x="3055919" y="4075867"/>
            <a:ext cx="1083770" cy="2507700"/>
          </a:xfrm>
          <a:prstGeom prst="bentConnector3">
            <a:avLst>
              <a:gd name="adj1" fmla="val -2109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03BA744-08FD-6E82-B983-C1120568D497}"/>
              </a:ext>
            </a:extLst>
          </p:cNvPr>
          <p:cNvCxnSpPr>
            <a:cxnSpLocks/>
            <a:stCxn id="92" idx="3"/>
            <a:endCxn id="71" idx="1"/>
          </p:cNvCxnSpPr>
          <p:nvPr/>
        </p:nvCxnSpPr>
        <p:spPr>
          <a:xfrm flipV="1">
            <a:off x="5926479" y="3035348"/>
            <a:ext cx="354356" cy="111116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9DB9759A-DB2A-9242-F419-C7ED72D8571D}"/>
              </a:ext>
            </a:extLst>
          </p:cNvPr>
          <p:cNvCxnSpPr>
            <a:cxnSpLocks/>
            <a:stCxn id="92" idx="3"/>
            <a:endCxn id="72" idx="1"/>
          </p:cNvCxnSpPr>
          <p:nvPr/>
        </p:nvCxnSpPr>
        <p:spPr>
          <a:xfrm flipV="1">
            <a:off x="5926479" y="3415079"/>
            <a:ext cx="354356" cy="7314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3EE8CF63-D203-0298-C3B9-5798499EEB8E}"/>
              </a:ext>
            </a:extLst>
          </p:cNvPr>
          <p:cNvCxnSpPr>
            <a:cxnSpLocks/>
            <a:stCxn id="92" idx="3"/>
            <a:endCxn id="73" idx="1"/>
          </p:cNvCxnSpPr>
          <p:nvPr/>
        </p:nvCxnSpPr>
        <p:spPr>
          <a:xfrm flipV="1">
            <a:off x="5926479" y="3834438"/>
            <a:ext cx="354356" cy="3120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E1178963-56D7-A0DD-982A-0A0E3C325B6E}"/>
              </a:ext>
            </a:extLst>
          </p:cNvPr>
          <p:cNvCxnSpPr>
            <a:cxnSpLocks/>
            <a:stCxn id="92" idx="3"/>
            <a:endCxn id="74" idx="1"/>
          </p:cNvCxnSpPr>
          <p:nvPr/>
        </p:nvCxnSpPr>
        <p:spPr>
          <a:xfrm>
            <a:off x="5926479" y="4146516"/>
            <a:ext cx="343999" cy="1112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A7BB0B39-5E43-F1C5-E2A4-55DA6564380E}"/>
              </a:ext>
            </a:extLst>
          </p:cNvPr>
          <p:cNvCxnSpPr>
            <a:cxnSpLocks/>
            <a:stCxn id="92" idx="3"/>
            <a:endCxn id="75" idx="1"/>
          </p:cNvCxnSpPr>
          <p:nvPr/>
        </p:nvCxnSpPr>
        <p:spPr>
          <a:xfrm>
            <a:off x="5926479" y="4146516"/>
            <a:ext cx="327722" cy="5454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F031BBE-59B5-73D2-F7FE-CA28BD0B4211}"/>
              </a:ext>
            </a:extLst>
          </p:cNvPr>
          <p:cNvCxnSpPr>
            <a:cxnSpLocks/>
            <a:stCxn id="92" idx="3"/>
            <a:endCxn id="80" idx="1"/>
          </p:cNvCxnSpPr>
          <p:nvPr/>
        </p:nvCxnSpPr>
        <p:spPr>
          <a:xfrm>
            <a:off x="5926479" y="4146516"/>
            <a:ext cx="327722" cy="9209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2" name="Rectangle: Rounded Corners 121">
            <a:extLst>
              <a:ext uri="{FF2B5EF4-FFF2-40B4-BE49-F238E27FC236}">
                <a16:creationId xmlns:a16="http://schemas.microsoft.com/office/drawing/2014/main" id="{E3821B00-6C8A-1657-AE2E-CC4869C2E2BF}"/>
              </a:ext>
            </a:extLst>
          </p:cNvPr>
          <p:cNvSpPr/>
          <p:nvPr/>
        </p:nvSpPr>
        <p:spPr>
          <a:xfrm>
            <a:off x="6254201" y="5379522"/>
            <a:ext cx="2160000" cy="431896"/>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RESULT</a:t>
            </a:r>
            <a:endParaRPr lang="en-IN" sz="1400" b="1" dirty="0"/>
          </a:p>
        </p:txBody>
      </p:sp>
      <p:sp>
        <p:nvSpPr>
          <p:cNvPr id="123" name="Rectangle: Rounded Corners 122">
            <a:extLst>
              <a:ext uri="{FF2B5EF4-FFF2-40B4-BE49-F238E27FC236}">
                <a16:creationId xmlns:a16="http://schemas.microsoft.com/office/drawing/2014/main" id="{FA6AF3AE-5D48-2550-737E-5CF1BFFB53C7}"/>
              </a:ext>
            </a:extLst>
          </p:cNvPr>
          <p:cNvSpPr/>
          <p:nvPr/>
        </p:nvSpPr>
        <p:spPr>
          <a:xfrm>
            <a:off x="6248400" y="5961270"/>
            <a:ext cx="2160000" cy="431896"/>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CONCLUSION</a:t>
            </a:r>
            <a:endParaRPr lang="en-IN" sz="1400" b="1" dirty="0"/>
          </a:p>
        </p:txBody>
      </p:sp>
      <p:cxnSp>
        <p:nvCxnSpPr>
          <p:cNvPr id="124" name="Straight Arrow Connector 123">
            <a:extLst>
              <a:ext uri="{FF2B5EF4-FFF2-40B4-BE49-F238E27FC236}">
                <a16:creationId xmlns:a16="http://schemas.microsoft.com/office/drawing/2014/main" id="{1F76CFE0-9AE1-13E6-A0AB-0BF792CFF04D}"/>
              </a:ext>
            </a:extLst>
          </p:cNvPr>
          <p:cNvCxnSpPr>
            <a:cxnSpLocks/>
          </p:cNvCxnSpPr>
          <p:nvPr/>
        </p:nvCxnSpPr>
        <p:spPr>
          <a:xfrm flipH="1">
            <a:off x="7360835" y="5105400"/>
            <a:ext cx="10350" cy="2963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547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Results &amp; Analysis</a:t>
            </a:r>
            <a:endParaRPr lang="en-US" dirty="0"/>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graphicFrame>
        <p:nvGraphicFramePr>
          <p:cNvPr id="9" name="Chart 8">
            <a:extLst>
              <a:ext uri="{FF2B5EF4-FFF2-40B4-BE49-F238E27FC236}">
                <a16:creationId xmlns:a16="http://schemas.microsoft.com/office/drawing/2014/main" id="{FEF75D40-8FAE-B661-6EFF-DEBB36FBEA65}"/>
              </a:ext>
            </a:extLst>
          </p:cNvPr>
          <p:cNvGraphicFramePr/>
          <p:nvPr>
            <p:extLst>
              <p:ext uri="{D42A27DB-BD31-4B8C-83A1-F6EECF244321}">
                <p14:modId xmlns:p14="http://schemas.microsoft.com/office/powerpoint/2010/main" val="995833407"/>
              </p:ext>
            </p:extLst>
          </p:nvPr>
        </p:nvGraphicFramePr>
        <p:xfrm>
          <a:off x="1066800" y="1617803"/>
          <a:ext cx="3606273" cy="24649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AD2AE5C7-8917-FBDF-EED5-C20DEE2678DD}"/>
              </a:ext>
            </a:extLst>
          </p:cNvPr>
          <p:cNvGraphicFramePr/>
          <p:nvPr>
            <p:extLst>
              <p:ext uri="{D42A27DB-BD31-4B8C-83A1-F6EECF244321}">
                <p14:modId xmlns:p14="http://schemas.microsoft.com/office/powerpoint/2010/main" val="945812667"/>
              </p:ext>
            </p:extLst>
          </p:nvPr>
        </p:nvGraphicFramePr>
        <p:xfrm>
          <a:off x="4953000" y="1621491"/>
          <a:ext cx="4030531" cy="2344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9702DE2A-049F-0B4C-8C9D-4CF8B7E7EA9D}"/>
              </a:ext>
            </a:extLst>
          </p:cNvPr>
          <p:cNvGraphicFramePr/>
          <p:nvPr>
            <p:extLst>
              <p:ext uri="{D42A27DB-BD31-4B8C-83A1-F6EECF244321}">
                <p14:modId xmlns:p14="http://schemas.microsoft.com/office/powerpoint/2010/main" val="2352047603"/>
              </p:ext>
            </p:extLst>
          </p:nvPr>
        </p:nvGraphicFramePr>
        <p:xfrm>
          <a:off x="1143000" y="4214480"/>
          <a:ext cx="3354242" cy="221697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92A48A48-8BF6-BE76-16BB-CDAC65B09836}"/>
              </a:ext>
            </a:extLst>
          </p:cNvPr>
          <p:cNvGraphicFramePr/>
          <p:nvPr>
            <p:extLst>
              <p:ext uri="{D42A27DB-BD31-4B8C-83A1-F6EECF244321}">
                <p14:modId xmlns:p14="http://schemas.microsoft.com/office/powerpoint/2010/main" val="1129986557"/>
              </p:ext>
            </p:extLst>
          </p:nvPr>
        </p:nvGraphicFramePr>
        <p:xfrm>
          <a:off x="5105401" y="4082708"/>
          <a:ext cx="3878130" cy="246490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664951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Conclusion &amp; Future Work</a:t>
            </a:r>
            <a:endParaRPr lang="en-US" dirty="0"/>
          </a:p>
        </p:txBody>
      </p:sp>
      <p:sp>
        <p:nvSpPr>
          <p:cNvPr id="3" name="Subtitle 2">
            <a:extLst>
              <a:ext uri="{FF2B5EF4-FFF2-40B4-BE49-F238E27FC236}">
                <a16:creationId xmlns:a16="http://schemas.microsoft.com/office/drawing/2014/main" id="{6A95EFBB-EA43-E708-7935-0963BD2865DA}"/>
              </a:ext>
            </a:extLst>
          </p:cNvPr>
          <p:cNvSpPr>
            <a:spLocks noGrp="1"/>
          </p:cNvSpPr>
          <p:nvPr>
            <p:ph type="subTitle" idx="1"/>
          </p:nvPr>
        </p:nvSpPr>
        <p:spPr>
          <a:xfrm>
            <a:off x="1219612" y="1373187"/>
            <a:ext cx="7406640" cy="5069400"/>
          </a:xfrm>
        </p:spPr>
        <p:txBody>
          <a:bodyPr>
            <a:noAutofit/>
          </a:bodyPr>
          <a:lstStyle/>
          <a:p>
            <a:pPr marL="285750" indent="-285750" algn="just">
              <a:buClr>
                <a:schemeClr val="tx1"/>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assessment of water quality parameters in the Rapti River revealed significant variations in physical, chemical, and biological characteristics. </a:t>
            </a:r>
          </a:p>
          <a:p>
            <a:pPr marL="285750" indent="-285750" algn="just">
              <a:buClr>
                <a:schemeClr val="tx1"/>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pH, hardness, alkalinity, and chloride content were found to be within the acceptable limits for drinking water, as per the Bureau of Indian Standards. </a:t>
            </a:r>
          </a:p>
          <a:p>
            <a:pPr marL="285750" indent="-285750" algn="just">
              <a:buClr>
                <a:schemeClr val="tx1"/>
              </a:buClr>
              <a:buSzPct val="10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assessment of water quality parameters of the Rapti River provides essential insights into the current status of river health and the potential impacts of natural and human-induced activities on this important freshwater resource.</a:t>
            </a:r>
          </a:p>
          <a:p>
            <a:pPr marL="285750" indent="-285750" algn="just">
              <a:buClr>
                <a:schemeClr val="tx1"/>
              </a:buClr>
              <a:buSzPct val="10000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 conclusion, this study emphasizes the importance of regular water quality monitoring, the need for sustainable water resource management, and the urgent requirement for pollution mitigation to ensure that the Rapti River remains a viable and safe water source for future generation.</a:t>
            </a:r>
            <a:endParaRPr lang="en-IN" sz="1800" dirty="0">
              <a:latin typeface="Times New Roman" panose="02020603050405020304" pitchFamily="18" charset="0"/>
              <a:cs typeface="Times New Roman" panose="02020603050405020304" pitchFamily="18" charset="0"/>
            </a:endParaRPr>
          </a:p>
          <a:p>
            <a:pPr marL="0" algn="just">
              <a:lnSpc>
                <a:spcPct val="150000"/>
              </a:lnSpc>
              <a:buClr>
                <a:schemeClr val="tx1"/>
              </a:buClr>
              <a:buSzPct val="100000"/>
            </a:pP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98882" indent="-171450">
              <a:lnSpc>
                <a:spcPct val="150000"/>
              </a:lnSpc>
              <a:buClr>
                <a:schemeClr val="tx1"/>
              </a:buClr>
              <a:buSzPct val="10000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198882" indent="-171450">
              <a:lnSpc>
                <a:spcPct val="150000"/>
              </a:lnSpc>
              <a:buClr>
                <a:schemeClr val="tx1"/>
              </a:buClr>
              <a:buSzPct val="10000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44246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Acknowledgements</a:t>
            </a:r>
            <a:endParaRPr lang="en-US" dirty="0"/>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7" name="Subtitle 2">
            <a:extLst>
              <a:ext uri="{FF2B5EF4-FFF2-40B4-BE49-F238E27FC236}">
                <a16:creationId xmlns:a16="http://schemas.microsoft.com/office/drawing/2014/main" id="{6ABE784F-27DE-511B-BA8C-A8F7292BA77D}"/>
              </a:ext>
            </a:extLst>
          </p:cNvPr>
          <p:cNvSpPr>
            <a:spLocks noGrp="1"/>
          </p:cNvSpPr>
          <p:nvPr>
            <p:ph type="subTitle" idx="1"/>
          </p:nvPr>
        </p:nvSpPr>
        <p:spPr>
          <a:xfrm>
            <a:off x="1143206" y="1600200"/>
            <a:ext cx="7803292" cy="2057400"/>
          </a:xfrm>
        </p:spPr>
        <p:txBody>
          <a:bodyPr>
            <a:noAutofit/>
          </a:bodyPr>
          <a:lstStyle/>
          <a:p>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800" b="1" dirty="0">
                <a:latin typeface="Times New Roman" panose="02020603050405020304" pitchFamily="18" charset="0"/>
                <a:cs typeface="Times New Roman" panose="02020603050405020304" pitchFamily="18" charset="0"/>
              </a:rPr>
              <a:t>Mr. Rajan Shukla</a:t>
            </a:r>
            <a:r>
              <a:rPr lang="en-US" sz="1800" dirty="0">
                <a:latin typeface="Times New Roman" panose="02020603050405020304" pitchFamily="18" charset="0"/>
                <a:cs typeface="Times New Roman" panose="02020603050405020304" pitchFamily="18" charset="0"/>
              </a:rPr>
              <a:t>, Assistant Professor , Department of Civil Engineering, for his constant guidance, valuable suggestions, motivation, and continuous support throughout the completion of this research work. His technical expertise and encouragement helped me in successfully completing this study.</a:t>
            </a:r>
          </a:p>
        </p:txBody>
      </p:sp>
      <p:sp>
        <p:nvSpPr>
          <p:cNvPr id="8" name="Subtitle 2">
            <a:extLst>
              <a:ext uri="{FF2B5EF4-FFF2-40B4-BE49-F238E27FC236}">
                <a16:creationId xmlns:a16="http://schemas.microsoft.com/office/drawing/2014/main" id="{53960E62-8D19-3AA0-D79F-3EBBF97C559F}"/>
              </a:ext>
            </a:extLst>
          </p:cNvPr>
          <p:cNvSpPr txBox="1">
            <a:spLocks/>
          </p:cNvSpPr>
          <p:nvPr/>
        </p:nvSpPr>
        <p:spPr>
          <a:xfrm>
            <a:off x="1166532" y="3810000"/>
            <a:ext cx="7803292" cy="2402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extLst>
      <p:ext uri="{BB962C8B-B14F-4D97-AF65-F5344CB8AC3E}">
        <p14:creationId xmlns:p14="http://schemas.microsoft.com/office/powerpoint/2010/main" val="342981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References</a:t>
            </a:r>
            <a:endParaRPr lang="en-US" dirty="0"/>
          </a:p>
        </p:txBody>
      </p:sp>
      <p:sp>
        <p:nvSpPr>
          <p:cNvPr id="3" name="Subtitle 2">
            <a:extLst>
              <a:ext uri="{FF2B5EF4-FFF2-40B4-BE49-F238E27FC236}">
                <a16:creationId xmlns:a16="http://schemas.microsoft.com/office/drawing/2014/main" id="{B63455DF-C4B2-A682-B4EC-9A7198095A9D}"/>
              </a:ext>
            </a:extLst>
          </p:cNvPr>
          <p:cNvSpPr>
            <a:spLocks noGrp="1"/>
          </p:cNvSpPr>
          <p:nvPr>
            <p:ph type="subTitle" idx="1"/>
          </p:nvPr>
        </p:nvSpPr>
        <p:spPr>
          <a:xfrm>
            <a:off x="1341532" y="1133451"/>
            <a:ext cx="7406640" cy="4917000"/>
          </a:xfrm>
        </p:spPr>
        <p:txBody>
          <a:bodyPr>
            <a:noAutofit/>
          </a:bodyPr>
          <a:lstStyle/>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Sahni and Varshney; J. Appl. Chem. Sci. Int., vol. 15, no. 2, pp. 1-15, 2024; Article no. JACSI.12328.</a:t>
            </a:r>
          </a:p>
          <a:p>
            <a:pPr marL="514350" indent="-514350">
              <a:buFont typeface="Wingdings" panose="05000000000000000000" pitchFamily="2" charset="2"/>
              <a:buChar char="Ø"/>
            </a:pPr>
            <a:r>
              <a:rPr lang="fr-FR" sz="1600" dirty="0">
                <a:latin typeface="Times New Roman" panose="02020603050405020304" pitchFamily="18" charset="0"/>
                <a:cs typeface="Times New Roman" panose="02020603050405020304" pitchFamily="18" charset="0"/>
              </a:rPr>
              <a:t>Md. J. B. Alam, et al. Int. J. Environ. </a:t>
            </a:r>
            <a:r>
              <a:rPr lang="fr-FR" sz="1600" dirty="0" err="1">
                <a:latin typeface="Times New Roman" panose="02020603050405020304" pitchFamily="18" charset="0"/>
                <a:cs typeface="Times New Roman" panose="02020603050405020304" pitchFamily="18" charset="0"/>
              </a:rPr>
              <a:t>Sci</a:t>
            </a:r>
            <a:r>
              <a:rPr lang="fr-FR" sz="1600" dirty="0">
                <a:latin typeface="Times New Roman" panose="02020603050405020304" pitchFamily="18" charset="0"/>
                <a:cs typeface="Times New Roman" panose="02020603050405020304" pitchFamily="18" charset="0"/>
              </a:rPr>
              <a:t>. Tech., 4 (1): 159-167, 2007 ISSN: 1735- 1472.</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Km Divya Yadav, Prof. Govind Pandey (Professor)Department of Civil Engineering.</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Madan Mohan Malaviya University of Technology Gorakhpur U.P. India 273010 .</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Ayush Kumar Rai; E. Moyo et al. Int. Journal of Engineering Research and Applications.</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ISSN: 2248-9622, Vol. 5, Issue 7, (Part - 4) July 2015, pp.57-61</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IOSR Journal of Biotechnology and Biochemistry (IOSR-JBB) ISSN: 2455-264X, Volume</a:t>
            </a:r>
            <a:r>
              <a:rPr lang="en-IN" sz="1600" dirty="0">
                <a:latin typeface="Times New Roman" panose="02020603050405020304" pitchFamily="18" charset="0"/>
                <a:cs typeface="Times New Roman" panose="02020603050405020304" pitchFamily="18" charset="0"/>
              </a:rPr>
              <a:t> Issue 4 (Jul. – Aug. 2017), PP 08-15 www.iosrjournals.org </a:t>
            </a:r>
          </a:p>
          <a:p>
            <a:pPr marL="514350" indent="-5143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 N. Uddin, M. S. Alam, M. N. Mobin and M. A. Miah; J. Environ. Sci. &amp; Natural Resources,7(1): 253 – 260, 2014 ISSN 1999-7361 </a:t>
            </a:r>
          </a:p>
          <a:p>
            <a:pPr marL="514350" indent="-5143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Pramod Kumar Vishwakarma; International Journal of Engineering Research &amp; Technology (IJERT) ISSN: 2278-0181 Vol. 2 Issue 12, December – 2013</a:t>
            </a:r>
            <a:endParaRPr lang="en-US" sz="1600" dirty="0">
              <a:latin typeface="Times New Roman" panose="02020603050405020304" pitchFamily="18" charset="0"/>
              <a:cs typeface="Times New Roman" panose="02020603050405020304" pitchFamily="18" charset="0"/>
            </a:endParaRPr>
          </a:p>
          <a:p>
            <a:pPr marL="198882" indent="-1714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198882" indent="-171450">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715209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p:txBody>
          <a:bodyPr>
            <a:normAutofit/>
          </a:bodyPr>
          <a:lstStyle/>
          <a:p>
            <a:pPr algn="ctr"/>
            <a:r>
              <a:rPr lang="en-US" sz="7200" dirty="0">
                <a:solidFill>
                  <a:srgbClr val="C00000"/>
                </a:solidFill>
              </a:rPr>
              <a:t>Thank You</a:t>
            </a: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182</TotalTime>
  <Words>1079</Words>
  <Application>Microsoft Office PowerPoint</Application>
  <PresentationFormat>On-screen Show (4:3)</PresentationFormat>
  <Paragraphs>104</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Gill Sans MT</vt:lpstr>
      <vt:lpstr>Times New Roman</vt:lpstr>
      <vt:lpstr>Verdana</vt:lpstr>
      <vt:lpstr>Wingdings</vt:lpstr>
      <vt:lpstr>Wingdings 2</vt:lpstr>
      <vt:lpstr>Solstice</vt:lpstr>
      <vt:lpstr>1st National Conference on Sustainable Civil Engineering &amp; Geospatial Technologies: Materials &amp; Innovations for Climate Resilience (NCRT-SCE 2026)   Buddha Institute of  Technology  GIDA, Gorakhpur    Date of Conference: 15th – 16th April 2026</vt:lpstr>
      <vt:lpstr>Contents</vt:lpstr>
      <vt:lpstr>Introduction</vt:lpstr>
      <vt:lpstr>Problem Statement</vt:lpstr>
      <vt:lpstr>Objectives</vt:lpstr>
      <vt:lpstr>Literature Survey</vt:lpstr>
      <vt:lpstr> Proposed Solution / Methodology </vt:lpstr>
      <vt:lpstr>Results &amp; Analysis</vt:lpstr>
      <vt:lpstr>Conclusion &amp; Future Work</vt:lpstr>
      <vt:lpstr>Acknowledgements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Krishna Jaiswal</dc:creator>
  <cp:lastModifiedBy>Krishna Jaiswal</cp:lastModifiedBy>
  <cp:revision>42</cp:revision>
  <dcterms:created xsi:type="dcterms:W3CDTF">2006-08-16T00:00:00Z</dcterms:created>
  <dcterms:modified xsi:type="dcterms:W3CDTF">2026-04-14T07:21:16Z</dcterms:modified>
</cp:coreProperties>
</file>